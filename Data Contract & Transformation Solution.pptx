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6858000" cx="12192000"/>
  <p:notesSz cx="6858000" cy="9144000"/>
  <p:embeddedFontLst>
    <p:embeddedFont>
      <p:font typeface="Merriweather"/>
      <p:regular r:id="rId17"/>
      <p:bold r:id="rId18"/>
      <p:italic r:id="rId19"/>
      <p:boldItalic r:id="rId20"/>
    </p:embeddedFont>
    <p:embeddedFont>
      <p:font typeface="DM Sans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erriweather-boldItalic.fntdata"/><Relationship Id="rId11" Type="http://schemas.openxmlformats.org/officeDocument/2006/relationships/slide" Target="slides/slide6.xml"/><Relationship Id="rId22" Type="http://schemas.openxmlformats.org/officeDocument/2006/relationships/font" Target="fonts/DMSans-bold.fntdata"/><Relationship Id="rId10" Type="http://schemas.openxmlformats.org/officeDocument/2006/relationships/slide" Target="slides/slide5.xml"/><Relationship Id="rId21" Type="http://schemas.openxmlformats.org/officeDocument/2006/relationships/font" Target="fonts/DMSans-regular.fntdata"/><Relationship Id="rId13" Type="http://schemas.openxmlformats.org/officeDocument/2006/relationships/slide" Target="slides/slide8.xml"/><Relationship Id="rId24" Type="http://schemas.openxmlformats.org/officeDocument/2006/relationships/font" Target="fonts/DMSans-boldItalic.fntdata"/><Relationship Id="rId12" Type="http://schemas.openxmlformats.org/officeDocument/2006/relationships/slide" Target="slides/slide7.xml"/><Relationship Id="rId23" Type="http://schemas.openxmlformats.org/officeDocument/2006/relationships/font" Target="fonts/DMSans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Merriweather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Merriweather-italic.fntdata"/><Relationship Id="rId6" Type="http://schemas.openxmlformats.org/officeDocument/2006/relationships/slide" Target="slides/slide1.xml"/><Relationship Id="rId18" Type="http://schemas.openxmlformats.org/officeDocument/2006/relationships/font" Target="fonts/Merriweather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1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15.png"/><Relationship Id="rId5" Type="http://schemas.openxmlformats.org/officeDocument/2006/relationships/image" Target="../media/image17.png"/><Relationship Id="rId6" Type="http://schemas.openxmlformats.org/officeDocument/2006/relationships/image" Target="../media/image5.png"/><Relationship Id="rId7" Type="http://schemas.openxmlformats.org/officeDocument/2006/relationships/image" Target="../media/image4.png"/><Relationship Id="rId8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11.png"/><Relationship Id="rId6" Type="http://schemas.openxmlformats.org/officeDocument/2006/relationships/image" Target="../media/image14.png"/><Relationship Id="rId7" Type="http://schemas.openxmlformats.org/officeDocument/2006/relationships/image" Target="../media/image21.png"/><Relationship Id="rId8" Type="http://schemas.openxmlformats.org/officeDocument/2006/relationships/image" Target="../media/image1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0.png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571500" y="2072878"/>
            <a:ext cx="11601450" cy="15085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Data Contract &amp;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54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 Transformation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571500" y="3771900"/>
            <a:ext cx="7620000" cy="7465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Переход от текста к цифровой спецификации: Specification-Driven Development в инженерии данных.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1" name="Google Shape;9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4"/>
          <p:cNvSpPr/>
          <p:nvPr/>
        </p:nvSpPr>
        <p:spPr>
          <a:xfrm>
            <a:off x="5381625" y="762000"/>
            <a:ext cx="1428750" cy="5715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4"/>
          <p:cNvSpPr txBox="1"/>
          <p:nvPr/>
        </p:nvSpPr>
        <p:spPr>
          <a:xfrm>
            <a:off x="295275" y="1009650"/>
            <a:ext cx="11601450" cy="962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Текущий ландшафт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571500" y="2181225"/>
            <a:ext cx="1104900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Проблема «Испорченного телефона» и стагнация Waterfall-процессов.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9" name="Google Shape;9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" name="Google Shape;10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527994"/>
            <a:ext cx="5286375" cy="27545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527994"/>
            <a:ext cx="5286375" cy="275451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5"/>
          <p:cNvSpPr txBox="1"/>
          <p:nvPr/>
        </p:nvSpPr>
        <p:spPr>
          <a:xfrm>
            <a:off x="962025" y="2918519"/>
            <a:ext cx="4730591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1CAA0"/>
                </a:solidFill>
                <a:latin typeface="Merriweather"/>
                <a:ea typeface="Merriweather"/>
                <a:cs typeface="Merriweather"/>
                <a:sym typeface="Merriweather"/>
              </a:rPr>
              <a:t>Традиционный подход</a:t>
            </a:r>
            <a:endParaRPr/>
          </a:p>
        </p:txBody>
      </p:sp>
      <p:sp>
        <p:nvSpPr>
          <p:cNvPr id="103" name="Google Shape;103;p15"/>
          <p:cNvSpPr txBox="1"/>
          <p:nvPr/>
        </p:nvSpPr>
        <p:spPr>
          <a:xfrm>
            <a:off x="962025" y="3509069"/>
            <a:ext cx="4505325" cy="1173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Статические PDF-постановки, вольное толкование бизнес-логики, ручное написание Scala-кода и ошибки типизации на поздних этапах.</a:t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6724650" y="2918519"/>
            <a:ext cx="4730591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1CAA0"/>
                </a:solidFill>
                <a:latin typeface="Merriweather"/>
                <a:ea typeface="Merriweather"/>
                <a:cs typeface="Merriweather"/>
                <a:sym typeface="Merriweather"/>
              </a:rPr>
              <a:t>Методология SDD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6724650" y="3509069"/>
            <a:ext cx="4505325" cy="88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Цифровой контракт (ODCS) как «Единый источник правды». Автоматическая генерация кода и валидация на этапе проектирования.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Смена парадигмы: От ТЗ к Коду</a:t>
            </a:r>
            <a:endParaRPr/>
          </a:p>
        </p:txBody>
      </p:sp>
      <p:sp>
        <p:nvSpPr>
          <p:cNvPr id="107" name="Google Shape;107;p15"/>
          <p:cNvSpPr/>
          <p:nvPr/>
        </p:nvSpPr>
        <p:spPr>
          <a:xfrm>
            <a:off x="571500" y="571500"/>
            <a:ext cx="76200" cy="5715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2" name="Google Shape;11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762125"/>
            <a:ext cx="5286375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1771650"/>
            <a:ext cx="5267325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6"/>
          <p:cNvSpPr txBox="1"/>
          <p:nvPr/>
        </p:nvSpPr>
        <p:spPr>
          <a:xfrm>
            <a:off x="1047750" y="1914525"/>
            <a:ext cx="4810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Маршрутизатор </a:t>
            </a:r>
            <a:r>
              <a:rPr b="1" lang="en-US" sz="165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GIGACODE</a:t>
            </a:r>
            <a:r>
              <a:rPr b="1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.md: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Управление приоритетами и правилами агента.</a:t>
            </a:r>
            <a:endParaRPr/>
          </a:p>
        </p:txBody>
      </p:sp>
      <p:sp>
        <p:nvSpPr>
          <p:cNvPr id="116" name="Google Shape;116;p16"/>
          <p:cNvSpPr txBox="1"/>
          <p:nvPr/>
        </p:nvSpPr>
        <p:spPr>
          <a:xfrm>
            <a:off x="1047750" y="2739330"/>
            <a:ext cx="4810125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CLI-Интервью: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Каскадный сбор требований вместо анкет.</a:t>
            </a:r>
            <a:endParaRPr/>
          </a:p>
        </p:txBody>
      </p:sp>
      <p:sp>
        <p:nvSpPr>
          <p:cNvPr id="117" name="Google Shape;117;p16"/>
          <p:cNvSpPr txBox="1"/>
          <p:nvPr/>
        </p:nvSpPr>
        <p:spPr>
          <a:xfrm>
            <a:off x="1047750" y="3564135"/>
            <a:ext cx="4810125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RAG &amp; MCP: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Валидация схем по реальным метаданным источников.</a:t>
            </a:r>
            <a:endParaRPr/>
          </a:p>
        </p:txBody>
      </p:sp>
      <p:pic>
        <p:nvPicPr>
          <p:cNvPr descr="image.png" id="118" name="Google Shape;118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1957387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2782192"/>
            <a:ext cx="33337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3606998"/>
            <a:ext cx="238125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6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Архитектура решения</a:t>
            </a:r>
            <a:endParaRPr/>
          </a:p>
        </p:txBody>
      </p:sp>
      <p:sp>
        <p:nvSpPr>
          <p:cNvPr id="122" name="Google Shape;122;p16"/>
          <p:cNvSpPr/>
          <p:nvPr/>
        </p:nvSpPr>
        <p:spPr>
          <a:xfrm>
            <a:off x="571500" y="571500"/>
            <a:ext cx="76200" cy="5715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5088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7" name="Google Shape;12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7"/>
          <p:cNvSpPr txBox="1"/>
          <p:nvPr/>
        </p:nvSpPr>
        <p:spPr>
          <a:xfrm>
            <a:off x="762000" y="571500"/>
            <a:ext cx="5000625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Логика как Граф (DAG)</a:t>
            </a:r>
            <a:endParaRPr/>
          </a:p>
        </p:txBody>
      </p:sp>
      <p:sp>
        <p:nvSpPr>
          <p:cNvPr id="129" name="Google Shape;129;p17"/>
          <p:cNvSpPr/>
          <p:nvPr/>
        </p:nvSpPr>
        <p:spPr>
          <a:xfrm>
            <a:off x="571500" y="571500"/>
            <a:ext cx="76200" cy="11430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30" name="Google Shape;130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7"/>
          <p:cNvSpPr txBox="1"/>
          <p:nvPr/>
        </p:nvSpPr>
        <p:spPr>
          <a:xfrm>
            <a:off x="571500" y="2483197"/>
            <a:ext cx="52006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Уход от вольных описаний</a:t>
            </a:r>
            <a:endParaRPr/>
          </a:p>
        </p:txBody>
      </p:sp>
      <p:sp>
        <p:nvSpPr>
          <p:cNvPr id="132" name="Google Shape;132;p17"/>
          <p:cNvSpPr txBox="1"/>
          <p:nvPr/>
        </p:nvSpPr>
        <p:spPr>
          <a:xfrm>
            <a:off x="571500" y="3216622"/>
            <a:ext cx="4953000" cy="1173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Трансформации больше не текст. Это направленный ациклический граф (DAG) на базе словаря Substrait: </a:t>
            </a:r>
            <a:r>
              <a:rPr b="1" i="0" lang="en-US" sz="165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Read, Filter, Join, Window, Aggregate.</a:t>
            </a:r>
            <a:endParaRPr/>
          </a:p>
        </p:txBody>
      </p:sp>
      <p:sp>
        <p:nvSpPr>
          <p:cNvPr id="133" name="Google Shape;133;p17"/>
          <p:cNvSpPr txBox="1"/>
          <p:nvPr/>
        </p:nvSpPr>
        <p:spPr>
          <a:xfrm>
            <a:off x="571500" y="4809083"/>
            <a:ext cx="4953000" cy="88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Каждый шаг — это атомарная операция с четким входом, выходом и логикой, исключающая двойные трактовки.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8" name="Google Shape;13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9" name="Google Shape;139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223194"/>
            <a:ext cx="3492549" cy="33641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0" name="Google Shape;140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223194"/>
            <a:ext cx="3492549" cy="33641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1" name="Google Shape;141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223194"/>
            <a:ext cx="3492549" cy="336411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8"/>
          <p:cNvSpPr txBox="1"/>
          <p:nvPr/>
        </p:nvSpPr>
        <p:spPr>
          <a:xfrm>
            <a:off x="784223" y="3328094"/>
            <a:ext cx="3067102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Naming</a:t>
            </a:r>
            <a:endParaRPr/>
          </a:p>
        </p:txBody>
      </p:sp>
      <p:sp>
        <p:nvSpPr>
          <p:cNvPr id="143" name="Google Shape;143;p18"/>
          <p:cNvSpPr txBox="1"/>
          <p:nvPr/>
        </p:nvSpPr>
        <p:spPr>
          <a:xfrm>
            <a:off x="857250" y="3918644"/>
            <a:ext cx="2921049" cy="1173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Автоматическое соблюдение Naming Conventions: суффиксы _id, _dt, _amt и четкие слои данных.</a:t>
            </a:r>
            <a:endParaRPr/>
          </a:p>
        </p:txBody>
      </p:sp>
      <p:sp>
        <p:nvSpPr>
          <p:cNvPr id="144" name="Google Shape;144;p18"/>
          <p:cNvSpPr txBox="1"/>
          <p:nvPr/>
        </p:nvSpPr>
        <p:spPr>
          <a:xfrm>
            <a:off x="4562523" y="3328094"/>
            <a:ext cx="3067102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DQ by Design</a:t>
            </a:r>
            <a:endParaRPr/>
          </a:p>
        </p:txBody>
      </p:sp>
      <p:sp>
        <p:nvSpPr>
          <p:cNvPr id="145" name="Google Shape;145;p18"/>
          <p:cNvSpPr txBox="1"/>
          <p:nvPr/>
        </p:nvSpPr>
        <p:spPr>
          <a:xfrm>
            <a:off x="4635549" y="3918644"/>
            <a:ext cx="2921049" cy="1173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Правила качества данных (Not Null, Unique) встраиваются в контракт и становятся автотестами.</a:t>
            </a:r>
            <a:endParaRPr/>
          </a:p>
        </p:txBody>
      </p:sp>
      <p:sp>
        <p:nvSpPr>
          <p:cNvPr id="146" name="Google Shape;146;p18"/>
          <p:cNvSpPr txBox="1"/>
          <p:nvPr/>
        </p:nvSpPr>
        <p:spPr>
          <a:xfrm>
            <a:off x="8340822" y="3328094"/>
            <a:ext cx="3067102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Code Gen</a:t>
            </a:r>
            <a:endParaRPr/>
          </a:p>
        </p:txBody>
      </p:sp>
      <p:sp>
        <p:nvSpPr>
          <p:cNvPr id="147" name="Google Shape;147;p18"/>
          <p:cNvSpPr txBox="1"/>
          <p:nvPr/>
        </p:nvSpPr>
        <p:spPr>
          <a:xfrm>
            <a:off x="8413849" y="3918644"/>
            <a:ext cx="2921049" cy="1173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Контракт транслируется в детерминированный Scala Spark код без участия разработчика.</a:t>
            </a:r>
            <a:endParaRPr/>
          </a:p>
        </p:txBody>
      </p:sp>
      <p:pic>
        <p:nvPicPr>
          <p:cNvPr descr="image.png" id="148" name="Google Shape;148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17662" y="2566094"/>
            <a:ext cx="600075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9" name="Google Shape;149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664749" y="2566094"/>
            <a:ext cx="41910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8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Стандартизация и Порядок</a:t>
            </a:r>
            <a:endParaRPr/>
          </a:p>
        </p:txBody>
      </p:sp>
      <p:sp>
        <p:nvSpPr>
          <p:cNvPr id="151" name="Google Shape;151;p18"/>
          <p:cNvSpPr/>
          <p:nvPr/>
        </p:nvSpPr>
        <p:spPr>
          <a:xfrm>
            <a:off x="571500" y="571500"/>
            <a:ext cx="76200" cy="5715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6" name="Google Shape;15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9"/>
          <p:cNvSpPr txBox="1"/>
          <p:nvPr/>
        </p:nvSpPr>
        <p:spPr>
          <a:xfrm>
            <a:off x="1047750" y="2842319"/>
            <a:ext cx="1057275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Time-to-Market: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Мгновенное прототипирование витрин через диалог с AI.</a:t>
            </a:r>
            <a:endParaRPr/>
          </a:p>
        </p:txBody>
      </p:sp>
      <p:sp>
        <p:nvSpPr>
          <p:cNvPr id="158" name="Google Shape;158;p19"/>
          <p:cNvSpPr txBox="1"/>
          <p:nvPr/>
        </p:nvSpPr>
        <p:spPr>
          <a:xfrm>
            <a:off x="1047750" y="3373784"/>
            <a:ext cx="1057275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Shift-Left Validation: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Обнаружение конфликтов типов до начала разработки.</a:t>
            </a:r>
            <a:endParaRPr/>
          </a:p>
        </p:txBody>
      </p:sp>
      <p:sp>
        <p:nvSpPr>
          <p:cNvPr id="159" name="Google Shape;159;p19"/>
          <p:cNvSpPr txBox="1"/>
          <p:nvPr/>
        </p:nvSpPr>
        <p:spPr>
          <a:xfrm>
            <a:off x="1047750" y="3905250"/>
            <a:ext cx="1057275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Wiki-Контекст: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Использование общекорпоративной базы знаний для обогащения контрактов.</a:t>
            </a:r>
            <a:endParaRPr/>
          </a:p>
        </p:txBody>
      </p:sp>
      <p:sp>
        <p:nvSpPr>
          <p:cNvPr id="160" name="Google Shape;160;p19"/>
          <p:cNvSpPr txBox="1"/>
          <p:nvPr/>
        </p:nvSpPr>
        <p:spPr>
          <a:xfrm>
            <a:off x="1047750" y="4436715"/>
            <a:ext cx="1057275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Освобождение от рутины: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Фокус на бизнес-смысле, а не на заполнении YAML.</a:t>
            </a:r>
            <a:endParaRPr/>
          </a:p>
        </p:txBody>
      </p:sp>
      <p:pic>
        <p:nvPicPr>
          <p:cNvPr descr="image.png" id="161" name="Google Shape;161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885182"/>
            <a:ext cx="23812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2" name="Google Shape;162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416647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3" name="Google Shape;163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948112"/>
            <a:ext cx="23812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4" name="Google Shape;164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479577"/>
            <a:ext cx="30480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9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Ценность для Аналитиков</a:t>
            </a:r>
            <a:endParaRPr/>
          </a:p>
        </p:txBody>
      </p:sp>
      <p:sp>
        <p:nvSpPr>
          <p:cNvPr id="166" name="Google Shape;166;p19"/>
          <p:cNvSpPr/>
          <p:nvPr/>
        </p:nvSpPr>
        <p:spPr>
          <a:xfrm>
            <a:off x="571500" y="571500"/>
            <a:ext cx="76200" cy="5715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1" name="Google Shape;17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0"/>
          <p:cNvSpPr txBox="1"/>
          <p:nvPr/>
        </p:nvSpPr>
        <p:spPr>
          <a:xfrm>
            <a:off x="571500" y="1790700"/>
            <a:ext cx="2503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Сокращение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240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 Boilerplate-кода</a:t>
            </a:r>
            <a:endParaRPr/>
          </a:p>
        </p:txBody>
      </p:sp>
      <p:sp>
        <p:nvSpPr>
          <p:cNvPr id="173" name="Google Shape;173;p20"/>
          <p:cNvSpPr txBox="1"/>
          <p:nvPr/>
        </p:nvSpPr>
        <p:spPr>
          <a:xfrm>
            <a:off x="571500" y="2857500"/>
            <a:ext cx="116014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Фокус на Архитектуре</a:t>
            </a:r>
            <a:endParaRPr/>
          </a:p>
        </p:txBody>
      </p:sp>
      <p:sp>
        <p:nvSpPr>
          <p:cNvPr id="174" name="Google Shape;174;p20"/>
          <p:cNvSpPr txBox="1"/>
          <p:nvPr/>
        </p:nvSpPr>
        <p:spPr>
          <a:xfrm>
            <a:off x="571500" y="3448050"/>
            <a:ext cx="11049000" cy="88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Разработчик перестает быть «переводчиком текста». Основная часть бизнес-логики генерируется автоматически, позволяя инженерам сосредоточиться на оптимизации производительности и развитии платформы.</a:t>
            </a:r>
            <a:endParaRPr/>
          </a:p>
        </p:txBody>
      </p:sp>
      <p:sp>
        <p:nvSpPr>
          <p:cNvPr id="175" name="Google Shape;175;p20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Эффективность Инженеров</a:t>
            </a:r>
            <a:endParaRPr/>
          </a:p>
        </p:txBody>
      </p:sp>
      <p:sp>
        <p:nvSpPr>
          <p:cNvPr id="176" name="Google Shape;176;p20"/>
          <p:cNvSpPr/>
          <p:nvPr/>
        </p:nvSpPr>
        <p:spPr>
          <a:xfrm>
            <a:off x="571500" y="571500"/>
            <a:ext cx="76200" cy="5715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1" name="Google Shape;18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1"/>
          <p:cNvSpPr/>
          <p:nvPr/>
        </p:nvSpPr>
        <p:spPr>
          <a:xfrm>
            <a:off x="5381625" y="762000"/>
            <a:ext cx="1428750" cy="5715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1"/>
          <p:cNvSpPr txBox="1"/>
          <p:nvPr/>
        </p:nvSpPr>
        <p:spPr>
          <a:xfrm>
            <a:off x="295275" y="1009650"/>
            <a:ext cx="11601450" cy="962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План реализации</a:t>
            </a:r>
            <a:endParaRPr/>
          </a:p>
        </p:txBody>
      </p:sp>
      <p:sp>
        <p:nvSpPr>
          <p:cNvPr id="184" name="Google Shape;184;p21"/>
          <p:cNvSpPr txBox="1"/>
          <p:nvPr/>
        </p:nvSpPr>
        <p:spPr>
          <a:xfrm>
            <a:off x="571500" y="2181225"/>
            <a:ext cx="1104900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От реверс-инжиниринга текущей аналитики к целевому Agentic-пайплайну.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9" name="Google Shape;18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2"/>
          <p:cNvSpPr/>
          <p:nvPr/>
        </p:nvSpPr>
        <p:spPr>
          <a:xfrm>
            <a:off x="571500" y="4381500"/>
            <a:ext cx="11049000" cy="3810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2"/>
          <p:cNvSpPr/>
          <p:nvPr/>
        </p:nvSpPr>
        <p:spPr>
          <a:xfrm>
            <a:off x="1672530" y="4267200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11CAA0"/>
          </a:solidFill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2"/>
          <p:cNvSpPr txBox="1"/>
          <p:nvPr/>
        </p:nvSpPr>
        <p:spPr>
          <a:xfrm>
            <a:off x="510733" y="3657600"/>
            <a:ext cx="2552193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Фаза 1: PoC</a:t>
            </a:r>
            <a:endParaRPr/>
          </a:p>
        </p:txBody>
      </p:sp>
      <p:sp>
        <p:nvSpPr>
          <p:cNvPr id="193" name="Google Shape;193;p22"/>
          <p:cNvSpPr txBox="1"/>
          <p:nvPr/>
        </p:nvSpPr>
        <p:spPr>
          <a:xfrm>
            <a:off x="571500" y="4819650"/>
            <a:ext cx="2430660" cy="6398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Оцифровка PDF в MD. Формирование первых Data Contracts и Wiki по аналитике.</a:t>
            </a:r>
            <a:endParaRPr/>
          </a:p>
        </p:txBody>
      </p:sp>
      <p:sp>
        <p:nvSpPr>
          <p:cNvPr id="194" name="Google Shape;194;p22"/>
          <p:cNvSpPr/>
          <p:nvPr/>
        </p:nvSpPr>
        <p:spPr>
          <a:xfrm>
            <a:off x="4545210" y="4267200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11CAA0"/>
          </a:solidFill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2"/>
          <p:cNvSpPr txBox="1"/>
          <p:nvPr/>
        </p:nvSpPr>
        <p:spPr>
          <a:xfrm>
            <a:off x="3383413" y="3657600"/>
            <a:ext cx="2552193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Фаза 2: Генезис</a:t>
            </a:r>
            <a:endParaRPr/>
          </a:p>
        </p:txBody>
      </p:sp>
      <p:sp>
        <p:nvSpPr>
          <p:cNvPr id="196" name="Google Shape;196;p22"/>
          <p:cNvSpPr txBox="1"/>
          <p:nvPr/>
        </p:nvSpPr>
        <p:spPr>
          <a:xfrm>
            <a:off x="3444180" y="4819650"/>
            <a:ext cx="2430660" cy="6398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Тестовая генерация кода Scala Spark из эталонных DAG-трансформаций.</a:t>
            </a:r>
            <a:endParaRPr/>
          </a:p>
        </p:txBody>
      </p:sp>
      <p:sp>
        <p:nvSpPr>
          <p:cNvPr id="197" name="Google Shape;197;p22"/>
          <p:cNvSpPr/>
          <p:nvPr/>
        </p:nvSpPr>
        <p:spPr>
          <a:xfrm>
            <a:off x="7417891" y="4267200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11CAA0"/>
          </a:solidFill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2"/>
          <p:cNvSpPr txBox="1"/>
          <p:nvPr/>
        </p:nvSpPr>
        <p:spPr>
          <a:xfrm>
            <a:off x="6256094" y="3657600"/>
            <a:ext cx="2552193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Фаза 3: Диалог</a:t>
            </a:r>
            <a:endParaRPr/>
          </a:p>
        </p:txBody>
      </p:sp>
      <p:sp>
        <p:nvSpPr>
          <p:cNvPr id="199" name="Google Shape;199;p22"/>
          <p:cNvSpPr txBox="1"/>
          <p:nvPr/>
        </p:nvSpPr>
        <p:spPr>
          <a:xfrm>
            <a:off x="6316860" y="4819650"/>
            <a:ext cx="2430660" cy="6398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Запуск интерактивного проектирования: Аналитик + AI + База знаний.</a:t>
            </a:r>
            <a:endParaRPr/>
          </a:p>
        </p:txBody>
      </p:sp>
      <p:sp>
        <p:nvSpPr>
          <p:cNvPr id="200" name="Google Shape;200;p22"/>
          <p:cNvSpPr/>
          <p:nvPr/>
        </p:nvSpPr>
        <p:spPr>
          <a:xfrm>
            <a:off x="10290571" y="4267200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11CAA0"/>
          </a:solidFill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2"/>
          <p:cNvSpPr txBox="1"/>
          <p:nvPr/>
        </p:nvSpPr>
        <p:spPr>
          <a:xfrm>
            <a:off x="9128774" y="3657600"/>
            <a:ext cx="2552193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Фаза 4: CI/CD</a:t>
            </a:r>
            <a:endParaRPr/>
          </a:p>
        </p:txBody>
      </p:sp>
      <p:sp>
        <p:nvSpPr>
          <p:cNvPr id="202" name="Google Shape;202;p22"/>
          <p:cNvSpPr txBox="1"/>
          <p:nvPr/>
        </p:nvSpPr>
        <p:spPr>
          <a:xfrm>
            <a:off x="9189541" y="4819650"/>
            <a:ext cx="2430660" cy="6398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Автоматическая валидация контрактов и генерация автотестов в пайплайне.</a:t>
            </a:r>
            <a:endParaRPr/>
          </a:p>
        </p:txBody>
      </p:sp>
      <p:sp>
        <p:nvSpPr>
          <p:cNvPr id="203" name="Google Shape;203;p22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Дорожная карта проекта</a:t>
            </a:r>
            <a:endParaRPr/>
          </a:p>
        </p:txBody>
      </p:sp>
      <p:sp>
        <p:nvSpPr>
          <p:cNvPr id="204" name="Google Shape;204;p22"/>
          <p:cNvSpPr/>
          <p:nvPr/>
        </p:nvSpPr>
        <p:spPr>
          <a:xfrm>
            <a:off x="571500" y="571500"/>
            <a:ext cx="76200" cy="5715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9" name="Google Shape;209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0" name="Google Shape;210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1723132"/>
            <a:ext cx="8572500" cy="3411735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3"/>
          <p:cNvSpPr txBox="1"/>
          <p:nvPr/>
        </p:nvSpPr>
        <p:spPr>
          <a:xfrm>
            <a:off x="2395537" y="2485132"/>
            <a:ext cx="7400925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Стратегическое Видение</a:t>
            </a:r>
            <a:endParaRPr/>
          </a:p>
        </p:txBody>
      </p:sp>
      <p:sp>
        <p:nvSpPr>
          <p:cNvPr id="212" name="Google Shape;212;p23"/>
          <p:cNvSpPr txBox="1"/>
          <p:nvPr/>
        </p:nvSpPr>
        <p:spPr>
          <a:xfrm>
            <a:off x="2571750" y="2989957"/>
            <a:ext cx="7048500" cy="1173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Мы строим не просто инструмент, а новую культуру работы с данными. Автоматизируя механический перевод спецификаций в код, мы возвращаем инженерам и аналитикам время для интеллектуального творчества и стратегического развития компании.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